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6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69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24130"/>
            <a:ext cx="10698480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5400" b="1" dirty="0" err="1">
                <a:solidFill>
                  <a:srgbClr val="FFFFFF"/>
                </a:solidFill>
                <a:latin typeface="Arial"/>
              </a:rPr>
              <a:t>مستكشف</a:t>
            </a:r>
            <a:r>
              <a:rPr sz="5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5400" b="1" dirty="0" err="1">
                <a:solidFill>
                  <a:srgbClr val="FFFFFF"/>
                </a:solidFill>
                <a:latin typeface="Arial"/>
              </a:rPr>
              <a:t>الأراضي</a:t>
            </a:r>
            <a:r>
              <a:rPr lang="ar-SA" sz="5400" b="1" dirty="0">
                <a:solidFill>
                  <a:srgbClr val="FFFFFF"/>
                </a:solidFill>
                <a:latin typeface="Arial"/>
              </a:rPr>
              <a:t> الاستثمارية</a:t>
            </a:r>
            <a:endParaRPr sz="5400" b="1" dirty="0">
              <a:solidFill>
                <a:srgbClr val="FFFFFF"/>
              </a:solidFill>
              <a:latin typeface="Arial"/>
            </a:endParaRPr>
          </a:p>
          <a:p>
            <a:pPr algn="ctr" rtl="1"/>
            <a:r>
              <a:rPr sz="2400" b="0" dirty="0" err="1">
                <a:solidFill>
                  <a:srgbClr val="E0EAFF"/>
                </a:solidFill>
                <a:latin typeface="Arial"/>
              </a:rPr>
              <a:t>منصة</a:t>
            </a:r>
            <a:r>
              <a:rPr sz="2400" b="0" dirty="0">
                <a:solidFill>
                  <a:srgbClr val="E0EAFF"/>
                </a:solidFill>
                <a:latin typeface="Arial"/>
              </a:rPr>
              <a:t> </a:t>
            </a:r>
            <a:r>
              <a:rPr sz="2400" b="0" dirty="0" err="1">
                <a:solidFill>
                  <a:srgbClr val="E0EAFF"/>
                </a:solidFill>
                <a:latin typeface="Arial"/>
              </a:rPr>
              <a:t>تفاعلية</a:t>
            </a:r>
            <a:r>
              <a:rPr sz="2400" b="0" dirty="0">
                <a:solidFill>
                  <a:srgbClr val="E0EAFF"/>
                </a:solidFill>
                <a:latin typeface="Arial"/>
              </a:rPr>
              <a:t> </a:t>
            </a:r>
            <a:r>
              <a:rPr sz="2400" b="0" dirty="0" err="1">
                <a:solidFill>
                  <a:srgbClr val="E0EAFF"/>
                </a:solidFill>
                <a:latin typeface="Arial"/>
              </a:rPr>
              <a:t>لاستكشاف</a:t>
            </a:r>
            <a:r>
              <a:rPr sz="2400" b="0" dirty="0">
                <a:solidFill>
                  <a:srgbClr val="E0EAFF"/>
                </a:solidFill>
                <a:latin typeface="Arial"/>
              </a:rPr>
              <a:t> </a:t>
            </a:r>
            <a:r>
              <a:rPr sz="2400" b="0" dirty="0" err="1">
                <a:solidFill>
                  <a:srgbClr val="E0EAFF"/>
                </a:solidFill>
                <a:latin typeface="Arial"/>
              </a:rPr>
              <a:t>القطع</a:t>
            </a:r>
            <a:r>
              <a:rPr sz="2400" b="0" dirty="0">
                <a:solidFill>
                  <a:srgbClr val="E0EAFF"/>
                </a:solidFill>
                <a:latin typeface="Arial"/>
              </a:rPr>
              <a:t> </a:t>
            </a:r>
            <a:r>
              <a:rPr lang="ar-SA" sz="2400" b="0" dirty="0">
                <a:solidFill>
                  <a:srgbClr val="E0EAFF"/>
                </a:solidFill>
                <a:latin typeface="Arial"/>
              </a:rPr>
              <a:t>الاستثمارية</a:t>
            </a:r>
            <a:r>
              <a:rPr sz="2400" b="0" dirty="0">
                <a:solidFill>
                  <a:srgbClr val="E0EAFF"/>
                </a:solidFill>
                <a:latin typeface="Arial"/>
              </a:rPr>
              <a:t> — </a:t>
            </a:r>
            <a:r>
              <a:rPr sz="2400" b="0" dirty="0" err="1">
                <a:solidFill>
                  <a:srgbClr val="E0EAFF"/>
                </a:solidFill>
                <a:latin typeface="Arial"/>
              </a:rPr>
              <a:t>مع</a:t>
            </a:r>
            <a:r>
              <a:rPr sz="2400" b="0" dirty="0">
                <a:solidFill>
                  <a:srgbClr val="E0EAFF"/>
                </a:solidFill>
                <a:latin typeface="Arial"/>
              </a:rPr>
              <a:t> </a:t>
            </a:r>
            <a:r>
              <a:rPr sz="2400" b="0" dirty="0" err="1">
                <a:solidFill>
                  <a:srgbClr val="E0EAFF"/>
                </a:solidFill>
                <a:latin typeface="Arial"/>
              </a:rPr>
              <a:t>مساعد</a:t>
            </a:r>
            <a:r>
              <a:rPr sz="2400" b="0" dirty="0">
                <a:solidFill>
                  <a:srgbClr val="E0EAFF"/>
                </a:solidFill>
                <a:latin typeface="Arial"/>
              </a:rPr>
              <a:t> </a:t>
            </a:r>
            <a:r>
              <a:rPr sz="2400" b="0" dirty="0" err="1">
                <a:solidFill>
                  <a:srgbClr val="E0EAFF"/>
                </a:solidFill>
                <a:latin typeface="Arial"/>
              </a:rPr>
              <a:t>ذكي</a:t>
            </a:r>
            <a:r>
              <a:rPr sz="2400" b="0" dirty="0">
                <a:solidFill>
                  <a:srgbClr val="E0EAFF"/>
                </a:solidFill>
                <a:latin typeface="Arial"/>
              </a:rPr>
              <a:t> </a:t>
            </a:r>
            <a:r>
              <a:rPr sz="2400" b="0" dirty="0" err="1">
                <a:solidFill>
                  <a:srgbClr val="E0EAFF"/>
                </a:solidFill>
                <a:latin typeface="Arial"/>
              </a:rPr>
              <a:t>جديد</a:t>
            </a:r>
            <a:r>
              <a:rPr sz="2400" b="0" dirty="0">
                <a:solidFill>
                  <a:srgbClr val="E0EAFF"/>
                </a:solidFill>
                <a:latin typeface="Arial"/>
              </a:rPr>
              <a:t> </a:t>
            </a:r>
            <a:r>
              <a:rPr sz="2400" b="0" dirty="0" err="1">
                <a:solidFill>
                  <a:srgbClr val="E0EAFF"/>
                </a:solidFill>
                <a:latin typeface="Arial"/>
              </a:rPr>
              <a:t>للمستثمر</a:t>
            </a:r>
            <a:endParaRPr sz="2400" b="0" dirty="0">
              <a:solidFill>
                <a:srgbClr val="E0EAFF"/>
              </a:solidFill>
              <a:latin typeface="Arial"/>
            </a:endParaRPr>
          </a:p>
          <a:p>
            <a:pPr algn="ctr" rtl="1"/>
            <a:r>
              <a:rPr lang="ar-SA" sz="1800" b="0" dirty="0">
                <a:solidFill>
                  <a:srgbClr val="C7D7FF"/>
                </a:solidFill>
                <a:latin typeface="Arial"/>
              </a:rPr>
              <a:t>أمانة </a:t>
            </a:r>
            <a:r>
              <a:rPr sz="1800" b="0" dirty="0" err="1">
                <a:solidFill>
                  <a:srgbClr val="C7D7FF"/>
                </a:solidFill>
                <a:latin typeface="Arial"/>
              </a:rPr>
              <a:t>منطقة</a:t>
            </a:r>
            <a:r>
              <a:rPr sz="1800" b="0" dirty="0">
                <a:solidFill>
                  <a:srgbClr val="C7D7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C7D7FF"/>
                </a:solidFill>
                <a:latin typeface="Arial"/>
              </a:rPr>
              <a:t>الحدود</a:t>
            </a:r>
            <a:r>
              <a:rPr sz="1800" b="0" dirty="0">
                <a:solidFill>
                  <a:srgbClr val="C7D7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C7D7FF"/>
                </a:solidFill>
                <a:latin typeface="Arial"/>
              </a:rPr>
              <a:t>الشمالية</a:t>
            </a:r>
            <a:r>
              <a:rPr lang="ar-SA" sz="1800" b="0" dirty="0">
                <a:solidFill>
                  <a:srgbClr val="C7D7FF"/>
                </a:solidFill>
                <a:latin typeface="Arial"/>
              </a:rPr>
              <a:t> – وكالة الاستثمار والاستدامة المالية</a:t>
            </a:r>
            <a:endParaRPr sz="1800" b="0" dirty="0">
              <a:solidFill>
                <a:srgbClr val="C7D7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23723" y="244209"/>
            <a:ext cx="1088136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3000" b="1" dirty="0" err="1">
                <a:latin typeface="Arial"/>
              </a:rPr>
              <a:t>نظرة</a:t>
            </a:r>
            <a:r>
              <a:rPr sz="3000" b="1" dirty="0">
                <a:latin typeface="Arial"/>
              </a:rPr>
              <a:t> </a:t>
            </a:r>
            <a:r>
              <a:rPr sz="3000" b="1" dirty="0" err="1">
                <a:latin typeface="Arial"/>
              </a:rPr>
              <a:t>عامة</a:t>
            </a:r>
            <a:r>
              <a:rPr sz="3000" b="1" dirty="0">
                <a:latin typeface="Arial"/>
              </a:rPr>
              <a:t> </a:t>
            </a:r>
            <a:r>
              <a:rPr sz="3000" b="1" dirty="0" err="1">
                <a:latin typeface="Arial"/>
              </a:rPr>
              <a:t>على</a:t>
            </a:r>
            <a:r>
              <a:rPr sz="3000" b="1" dirty="0">
                <a:latin typeface="Arial"/>
              </a:rPr>
              <a:t> </a:t>
            </a:r>
            <a:r>
              <a:rPr sz="3000" b="1" dirty="0" err="1">
                <a:latin typeface="Arial"/>
              </a:rPr>
              <a:t>المنصة</a:t>
            </a:r>
            <a:endParaRPr sz="3000" b="1" dirty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56954" y="1222767"/>
            <a:ext cx="2948129" cy="178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◄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منصة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تعرض</a:t>
            </a:r>
            <a:r>
              <a:rPr lang="ar-SA"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القطع الاستثمارية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على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خريطة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Google </a:t>
            </a:r>
            <a:r>
              <a:rPr lang="ar-SA"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التفاعلية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.</a:t>
            </a:r>
          </a:p>
          <a:p>
            <a:pPr algn="r" rtl="1">
              <a:spcAft>
                <a:spcPts val="1200"/>
              </a:spcAft>
            </a:pP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◄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تصنيف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القطع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حسب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الحالة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الاستثمارية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والنشاط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والحي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والمساحة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.</a:t>
            </a:r>
          </a:p>
          <a:p>
            <a:pPr algn="r" rtl="1">
              <a:spcAft>
                <a:spcPts val="1200"/>
              </a:spcAft>
            </a:pP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◄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واجهة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عربية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بالكامل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lang="ar-SA"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(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من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اليمين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لليسار</a:t>
            </a:r>
            <a:r>
              <a:rPr lang="ar-SA"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)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،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وتعمل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على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الحاسب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والجوال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.</a:t>
            </a:r>
          </a:p>
          <a:p>
            <a:pPr algn="r" rtl="1">
              <a:spcAft>
                <a:spcPts val="1200"/>
              </a:spcAft>
            </a:pPr>
            <a:r>
              <a:rPr lang="en-US"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◄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مساعد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ذكي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يفهم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أسئلة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المستثمر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ويتحكّم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بالخريطة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نيابةً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عنه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254BBA-8B13-4536-BB68-057E0FB56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17" y="798207"/>
            <a:ext cx="8814439" cy="5463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98ED15-69E4-4EF6-B129-EF7D5A685FD1}"/>
              </a:ext>
            </a:extLst>
          </p:cNvPr>
          <p:cNvSpPr txBox="1"/>
          <p:nvPr/>
        </p:nvSpPr>
        <p:spPr>
          <a:xfrm>
            <a:off x="9295277" y="4004017"/>
            <a:ext cx="2816810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◄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نافذة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محادثة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في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أسفل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يسار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الشاشة</a:t>
            </a:r>
            <a:r>
              <a:rPr lang="ar-SA"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تدعم الذكاء الاصطناعي</a:t>
            </a:r>
            <a:endParaRPr sz="1000" b="1" dirty="0">
              <a:solidFill>
                <a:srgbClr val="1E293B"/>
              </a:solidFill>
              <a:latin typeface="Bahij Janna" panose="02040503050201020203" pitchFamily="18" charset="-78"/>
              <a:cs typeface="Bahij Janna" panose="02040503050201020203" pitchFamily="18" charset="-78"/>
            </a:endParaRPr>
          </a:p>
          <a:p>
            <a:pPr algn="r" rtl="1">
              <a:spcAft>
                <a:spcPts val="1200"/>
              </a:spcAft>
            </a:pP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◄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يتيح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للمستثمر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أن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يسأل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بالعربية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الطبيعية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بدل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استخدام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القوائم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.</a:t>
            </a:r>
          </a:p>
          <a:p>
            <a:pPr algn="r" rtl="1">
              <a:spcAft>
                <a:spcPts val="1200"/>
              </a:spcAft>
            </a:pP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◄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لا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يكتفي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بالإجابة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،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بل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ينفّذ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الأوامر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على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الخريطة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مباشرة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.</a:t>
            </a:r>
          </a:p>
          <a:p>
            <a:pPr algn="r" rtl="1">
              <a:spcAft>
                <a:spcPts val="1200"/>
              </a:spcAft>
            </a:pPr>
            <a:endParaRPr sz="1000" b="1" dirty="0">
              <a:solidFill>
                <a:srgbClr val="2563EB"/>
              </a:solidFill>
              <a:latin typeface="Bahij Janna" panose="02040503050201020203" pitchFamily="18" charset="-78"/>
              <a:cs typeface="Bahij Janna" panose="02040503050201020203" pitchFamily="18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6EA31A-260A-4F59-B846-BC86590CFF74}"/>
              </a:ext>
            </a:extLst>
          </p:cNvPr>
          <p:cNvSpPr txBox="1"/>
          <p:nvPr/>
        </p:nvSpPr>
        <p:spPr>
          <a:xfrm>
            <a:off x="1230727" y="3253059"/>
            <a:ext cx="1088136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lang="ar-SA" sz="3000" b="1" dirty="0">
                <a:latin typeface="Arial"/>
              </a:rPr>
              <a:t>المساعد الذكي</a:t>
            </a:r>
            <a:endParaRPr sz="3000" b="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3651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244209"/>
            <a:ext cx="1088136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3000" b="1" dirty="0" err="1">
                <a:latin typeface="Arial"/>
              </a:rPr>
              <a:t>أمثلة</a:t>
            </a:r>
            <a:r>
              <a:rPr sz="3000" b="1" dirty="0">
                <a:latin typeface="Arial"/>
              </a:rPr>
              <a:t> </a:t>
            </a:r>
            <a:r>
              <a:rPr sz="3000" b="1" dirty="0" err="1">
                <a:latin typeface="Arial"/>
              </a:rPr>
              <a:t>على</a:t>
            </a:r>
            <a:r>
              <a:rPr sz="3000" b="1" dirty="0">
                <a:latin typeface="Arial"/>
              </a:rPr>
              <a:t> </a:t>
            </a:r>
            <a:r>
              <a:rPr sz="3000" b="1" dirty="0" err="1">
                <a:latin typeface="Arial"/>
              </a:rPr>
              <a:t>الأسئلة</a:t>
            </a:r>
            <a:endParaRPr sz="3000" b="1" dirty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1714" y="937423"/>
            <a:ext cx="10881360" cy="178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◄ «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كم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عدد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الورش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المؤجَّرة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؟»</a:t>
            </a:r>
          </a:p>
          <a:p>
            <a:pPr algn="r" rtl="1">
              <a:spcAft>
                <a:spcPts val="1200"/>
              </a:spcAft>
            </a:pP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◄ «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اعرض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المستودعات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التي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تزيد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مساحتها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عن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5000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متر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.»</a:t>
            </a:r>
          </a:p>
          <a:p>
            <a:pPr algn="r" rtl="1">
              <a:spcAft>
                <a:spcPts val="1200"/>
              </a:spcAft>
            </a:pP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◄ «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ما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توزيع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القطع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غير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المستثمرة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حسب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الحي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؟»</a:t>
            </a:r>
          </a:p>
          <a:p>
            <a:pPr algn="r" rtl="1">
              <a:spcAft>
                <a:spcPts val="1200"/>
              </a:spcAft>
            </a:pP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◄ «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قارن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بين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المصانع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والاستراحات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من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حيث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الإشغال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.»</a:t>
            </a:r>
          </a:p>
          <a:p>
            <a:pPr algn="r" rtl="1">
              <a:spcAft>
                <a:spcPts val="1200"/>
              </a:spcAft>
            </a:pP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◄ «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أظهر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تفاصيل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القطعة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رقم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5123»</a:t>
            </a:r>
          </a:p>
          <a:p>
            <a:pPr algn="r" rtl="1">
              <a:spcAft>
                <a:spcPts val="1200"/>
              </a:spcAft>
            </a:pP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◄ «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امسح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كل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الفلاتر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.»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EE9A94-284B-41B0-AD9C-7B3953A86160}"/>
              </a:ext>
            </a:extLst>
          </p:cNvPr>
          <p:cNvSpPr txBox="1"/>
          <p:nvPr/>
        </p:nvSpPr>
        <p:spPr>
          <a:xfrm>
            <a:off x="627110" y="3071714"/>
            <a:ext cx="1088136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3000" b="1" dirty="0" err="1">
                <a:latin typeface="Arial"/>
              </a:rPr>
              <a:t>لماذا</a:t>
            </a:r>
            <a:r>
              <a:rPr sz="3000" b="1" dirty="0">
                <a:latin typeface="Arial"/>
              </a:rPr>
              <a:t> </a:t>
            </a:r>
            <a:r>
              <a:rPr sz="3000" b="1" dirty="0" err="1">
                <a:latin typeface="Arial"/>
              </a:rPr>
              <a:t>يُفيد</a:t>
            </a:r>
            <a:r>
              <a:rPr sz="3000" b="1" dirty="0">
                <a:latin typeface="Arial"/>
              </a:rPr>
              <a:t> </a:t>
            </a:r>
            <a:r>
              <a:rPr sz="3000" b="1" dirty="0" err="1">
                <a:latin typeface="Arial"/>
              </a:rPr>
              <a:t>المستثمر</a:t>
            </a:r>
            <a:r>
              <a:rPr sz="3000" b="1" dirty="0">
                <a:latin typeface="Arial"/>
              </a:rPr>
              <a:t>؟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8EB5CE-7986-4235-89F0-7D2EB84AED04}"/>
              </a:ext>
            </a:extLst>
          </p:cNvPr>
          <p:cNvSpPr txBox="1"/>
          <p:nvPr/>
        </p:nvSpPr>
        <p:spPr>
          <a:xfrm>
            <a:off x="627110" y="3777897"/>
            <a:ext cx="1088136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◄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يختصر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خطوات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التصفية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اليدوية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إلى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جملة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واحدة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.</a:t>
            </a:r>
          </a:p>
          <a:p>
            <a:pPr algn="r" rtl="1">
              <a:spcAft>
                <a:spcPts val="1200"/>
              </a:spcAft>
            </a:pP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◄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يجيب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عن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أسئلة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تحليلية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فورية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lang="ar-SA"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(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أعداد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،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مساحات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،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مقارنات</a:t>
            </a:r>
            <a:r>
              <a:rPr lang="ar-SA"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).</a:t>
            </a:r>
            <a:endParaRPr sz="1000" b="1" dirty="0">
              <a:solidFill>
                <a:srgbClr val="1E293B"/>
              </a:solidFill>
              <a:latin typeface="Bahij Janna" panose="02040503050201020203" pitchFamily="18" charset="-78"/>
              <a:cs typeface="Bahij Janna" panose="02040503050201020203" pitchFamily="18" charset="-78"/>
            </a:endParaRPr>
          </a:p>
          <a:p>
            <a:pPr algn="r" rtl="1">
              <a:spcAft>
                <a:spcPts val="1200"/>
              </a:spcAft>
            </a:pP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◄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يقود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الخريطة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إلى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القطع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المطلوبة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ويقرّبها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تلقائيًا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.</a:t>
            </a:r>
          </a:p>
          <a:p>
            <a:pPr algn="r" rtl="1">
              <a:spcAft>
                <a:spcPts val="1200"/>
              </a:spcAft>
            </a:pP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◄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يفتح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تفاصيل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أي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قطعة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عند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ذكر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رقمها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.</a:t>
            </a:r>
          </a:p>
          <a:p>
            <a:pPr algn="r" rtl="1">
              <a:spcAft>
                <a:spcPts val="1200"/>
              </a:spcAft>
            </a:pP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◄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تجربة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أسهل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لغير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المتخصصين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في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الخرائط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latin typeface="Bahij Janna" panose="02040503050201020203" pitchFamily="18" charset="-78"/>
                <a:cs typeface="Bahij Janna" panose="02040503050201020203" pitchFamily="18" charset="-78"/>
              </a:rPr>
              <a:t>والفلاتر</a:t>
            </a:r>
            <a:r>
              <a:rPr sz="1000" b="1" dirty="0">
                <a:latin typeface="Bahij Janna" panose="02040503050201020203" pitchFamily="18" charset="-78"/>
                <a:cs typeface="Bahij Janna" panose="02040503050201020203" pitchFamily="18" charset="-78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1B8AFD-9700-4885-AC4A-20EC544F1E34}"/>
              </a:ext>
            </a:extLst>
          </p:cNvPr>
          <p:cNvSpPr txBox="1"/>
          <p:nvPr/>
        </p:nvSpPr>
        <p:spPr>
          <a:xfrm>
            <a:off x="922185" y="1185674"/>
            <a:ext cx="4557252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◄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يعتمد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على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نموذج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ذكاء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اصطناعي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متقدّ</a:t>
            </a:r>
            <a:r>
              <a:rPr lang="ar-SA"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م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: gpt-oss-120b</a:t>
            </a:r>
            <a:endParaRPr lang="ar-SA" sz="1000" b="1" dirty="0">
              <a:solidFill>
                <a:srgbClr val="1E293B"/>
              </a:solidFill>
              <a:latin typeface="Bahij Janna" panose="02040503050201020203" pitchFamily="18" charset="-78"/>
              <a:cs typeface="Bahij Janna" panose="02040503050201020203" pitchFamily="18" charset="-78"/>
            </a:endParaRPr>
          </a:p>
          <a:p>
            <a:pPr algn="r" rtl="1">
              <a:spcAft>
                <a:spcPts val="1200"/>
              </a:spcAft>
            </a:pPr>
            <a:r>
              <a:rPr lang="ar-SA"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◄ يعمل عبر منصة </a:t>
            </a:r>
            <a:r>
              <a:rPr lang="en-US"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OpenRouter</a:t>
            </a:r>
            <a:r>
              <a:rPr lang="en-US"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lang="ar-SA"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ومزوّد الاستدلال السريع </a:t>
            </a:r>
            <a:r>
              <a:rPr lang="en-US"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Cerebras</a:t>
            </a:r>
            <a:r>
              <a:rPr lang="en-US"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.</a:t>
            </a:r>
          </a:p>
          <a:p>
            <a:pPr algn="r" rtl="1">
              <a:spcAft>
                <a:spcPts val="1200"/>
              </a:spcAft>
            </a:pP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◄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طلب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المستخدم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يمرّ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عبر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خدمة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وسيطة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آمنة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ثم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إلى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النموذج</a:t>
            </a:r>
            <a:r>
              <a:rPr sz="1000" b="1" dirty="0">
                <a:solidFill>
                  <a:srgbClr val="1E293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.</a:t>
            </a:r>
          </a:p>
          <a:p>
            <a:pPr algn="r" rtl="1">
              <a:spcAft>
                <a:spcPts val="1200"/>
              </a:spcAft>
            </a:pPr>
            <a:r>
              <a:rPr sz="1000" b="1" dirty="0">
                <a:solidFill>
                  <a:srgbClr val="2563E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◄ </a:t>
            </a:r>
            <a:r>
              <a:rPr sz="1000" b="1" dirty="0" err="1">
                <a:solidFill>
                  <a:srgbClr val="2563E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النتيجة</a:t>
            </a:r>
            <a:r>
              <a:rPr sz="1000" b="1" dirty="0">
                <a:solidFill>
                  <a:srgbClr val="2563E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: </a:t>
            </a:r>
            <a:r>
              <a:rPr sz="1000" b="1" dirty="0" err="1">
                <a:solidFill>
                  <a:srgbClr val="2563E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استجابة</a:t>
            </a:r>
            <a:r>
              <a:rPr sz="1000" b="1" dirty="0">
                <a:solidFill>
                  <a:srgbClr val="2563E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2563E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شبه</a:t>
            </a:r>
            <a:r>
              <a:rPr sz="1000" b="1" dirty="0">
                <a:solidFill>
                  <a:srgbClr val="2563E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2563E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فورية</a:t>
            </a:r>
            <a:r>
              <a:rPr sz="1000" b="1" dirty="0">
                <a:solidFill>
                  <a:srgbClr val="2563E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2563E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على</a:t>
            </a:r>
            <a:r>
              <a:rPr sz="1000" b="1" dirty="0">
                <a:solidFill>
                  <a:srgbClr val="2563E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2563E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البيانات</a:t>
            </a:r>
            <a:r>
              <a:rPr sz="1000" b="1" dirty="0">
                <a:solidFill>
                  <a:srgbClr val="2563E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2563E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المُحمَّلة</a:t>
            </a:r>
            <a:r>
              <a:rPr sz="1000" b="1" dirty="0">
                <a:solidFill>
                  <a:srgbClr val="2563E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 </a:t>
            </a:r>
            <a:r>
              <a:rPr sz="1000" b="1" dirty="0" err="1">
                <a:solidFill>
                  <a:srgbClr val="2563E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أصلًا</a:t>
            </a:r>
            <a:r>
              <a:rPr sz="1000" b="1" dirty="0">
                <a:solidFill>
                  <a:srgbClr val="2563EB"/>
                </a:solidFill>
                <a:latin typeface="Bahij Janna" panose="02040503050201020203" pitchFamily="18" charset="-78"/>
                <a:cs typeface="Bahij Janna" panose="02040503050201020203" pitchFamily="18" charset="-78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7D17C0-5CF4-4BF6-A063-DB8AFA2A17F9}"/>
              </a:ext>
            </a:extLst>
          </p:cNvPr>
          <p:cNvSpPr txBox="1"/>
          <p:nvPr/>
        </p:nvSpPr>
        <p:spPr>
          <a:xfrm>
            <a:off x="800094" y="246556"/>
            <a:ext cx="4557252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lang="ar-SA" sz="3000" b="1" dirty="0">
                <a:latin typeface="Arial"/>
              </a:rPr>
              <a:t>كيف يعمل ؟</a:t>
            </a:r>
            <a:endParaRPr sz="3000" b="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262</Words>
  <Application>Microsoft Office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Bahij Janna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2026-07-29T10:30:07Z</dcterms:modified>
  <cp:category/>
</cp:coreProperties>
</file>